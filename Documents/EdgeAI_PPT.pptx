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9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F4F8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E8F4F8"/>
                </a:solidFill>
                <a:latin typeface="Arial"/>
              </a:rPr>
              <a:t>Model Performance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Train Acc</c:v>
                </c:pt>
                <c:pt idx="1">
                  <c:v>Test Acc</c:v>
                </c:pt>
                <c:pt idx="2">
                  <c:v>Confidence
Threshold</c:v>
                </c:pt>
                <c:pt idx="3">
                  <c:v>Hold Time
(sec ×10)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</c:v>
                </c:pt>
                <c:pt idx="1">
                  <c:v>95</c:v>
                </c:pt>
                <c:pt idx="2">
                  <c:v>75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33-49C9-B23B-9C2C9A6D1B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2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Prediction Acceptance Rate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Decision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86-41F1-972A-BDF3FA4E48B1}"/>
              </c:ext>
            </c:extLst>
          </c:dPt>
          <c:dPt>
            <c:idx val="1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86-41F1-972A-BDF3FA4E48B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86-41F1-972A-BDF3FA4E48B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86-41F1-972A-BDF3FA4E48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Accepted (≥75%)</c:v>
                </c:pt>
                <c:pt idx="1">
                  <c:v>Rejected (&lt;75%)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86-41F1-972A-BDF3FA4E48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F4F8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E8F4F8"/>
                </a:solidFill>
                <a:latin typeface="Arial"/>
              </a:rPr>
              <a:t>Per-Letter Recognition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 Accuracy (%)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cat>
            <c:strRef>
              <c:f>Sheet1!$A$2:$A$28</c:f>
              <c:strCache>
                <c:ptCount val="2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  <c:pt idx="22">
                  <c:v>W</c:v>
                </c:pt>
                <c:pt idx="23">
                  <c:v>X</c:v>
                </c:pt>
                <c:pt idx="24">
                  <c:v>Y</c:v>
                </c:pt>
                <c:pt idx="25">
                  <c:v>Z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6"/>
                <c:pt idx="0">
                  <c:v>97</c:v>
                </c:pt>
                <c:pt idx="1">
                  <c:v>95</c:v>
                </c:pt>
                <c:pt idx="2">
                  <c:v>93</c:v>
                </c:pt>
                <c:pt idx="3">
                  <c:v>96</c:v>
                </c:pt>
                <c:pt idx="4">
                  <c:v>91</c:v>
                </c:pt>
                <c:pt idx="5">
                  <c:v>94</c:v>
                </c:pt>
                <c:pt idx="6">
                  <c:v>95</c:v>
                </c:pt>
                <c:pt idx="7">
                  <c:v>92</c:v>
                </c:pt>
                <c:pt idx="8">
                  <c:v>98</c:v>
                </c:pt>
                <c:pt idx="9">
                  <c:v>86</c:v>
                </c:pt>
                <c:pt idx="10">
                  <c:v>89</c:v>
                </c:pt>
                <c:pt idx="11">
                  <c:v>96</c:v>
                </c:pt>
                <c:pt idx="12">
                  <c:v>88</c:v>
                </c:pt>
                <c:pt idx="13">
                  <c:v>87</c:v>
                </c:pt>
                <c:pt idx="14">
                  <c:v>94</c:v>
                </c:pt>
                <c:pt idx="15">
                  <c:v>91</c:v>
                </c:pt>
                <c:pt idx="16">
                  <c:v>90</c:v>
                </c:pt>
                <c:pt idx="17">
                  <c:v>93</c:v>
                </c:pt>
                <c:pt idx="18">
                  <c:v>90</c:v>
                </c:pt>
                <c:pt idx="19">
                  <c:v>89</c:v>
                </c:pt>
                <c:pt idx="20">
                  <c:v>93</c:v>
                </c:pt>
                <c:pt idx="21">
                  <c:v>97</c:v>
                </c:pt>
                <c:pt idx="22">
                  <c:v>92</c:v>
                </c:pt>
                <c:pt idx="23">
                  <c:v>88</c:v>
                </c:pt>
                <c:pt idx="24">
                  <c:v>95</c:v>
                </c:pt>
                <c:pt idx="25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63-4A09-9FC6-463915325A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80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79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007B6E"/>
          </a:solidFill>
          <a:ln w="12700">
            <a:solidFill>
              <a:srgbClr val="007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 Language Recognition System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Course: CP-330 Edge-AI 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926080"/>
            <a:ext cx="5852160" cy="1463040"/>
          </a:xfrm>
          <a:prstGeom prst="rect">
            <a:avLst/>
          </a:prstGeom>
          <a:solidFill>
            <a:srgbClr val="1B2A4A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45920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Saxena (26110)  |  Shruti Jain (27020)  |  Somava Roy (25841)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MediaPipe + Random Forest on Raspberry Pi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hearing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worldwide (WHO)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100584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50592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captured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100584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26864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letters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in real-time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1005840"/>
            <a:ext cx="1920240" cy="14630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03136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7373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prediction acceptance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01752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is the primary communication medium for the hearing-impaired community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non-signers cannot understand sign language — creating a communication barrier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expensive, require cloud connectivity, or have high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accessible, offline, real-time bridge between signers and non-signers exists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06040"/>
            <a:ext cx="411480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Edge-AI system running entirely on Raspberry Pi 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hand landmark extraction via MediaPipe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lightweight, fast, accurate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output for full accessibility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 — fully offline &amp; private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59" y="105065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1371904"/>
            <a:ext cx="1325880" cy="10515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37160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(USB/Pi Cam)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829104"/>
            <a:ext cx="15544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18488" y="1371904"/>
            <a:ext cx="1325880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18488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(21 pts)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44368" y="1829104"/>
            <a:ext cx="15544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099816" y="1371904"/>
            <a:ext cx="132588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099816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63D Vector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1829104"/>
            <a:ext cx="15544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81144" y="1371904"/>
            <a:ext cx="1325880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81144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07024" y="1829104"/>
            <a:ext cx="15544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62472" y="1371904"/>
            <a:ext cx="1325880" cy="10515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62472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Lock Logic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88352" y="1829104"/>
            <a:ext cx="15544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543800" y="1371904"/>
            <a:ext cx="1325880" cy="10515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43800" y="1371904"/>
            <a:ext cx="1325880" cy="1051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(eSpeak)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9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17ED2FE5-44BB-6F33-D8EA-425036F9A113}"/>
              </a:ext>
            </a:extLst>
          </p:cNvPr>
          <p:cNvSpPr/>
          <p:nvPr/>
        </p:nvSpPr>
        <p:spPr>
          <a:xfrm>
            <a:off x="374904" y="2359456"/>
            <a:ext cx="8412480" cy="1988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0C9B1"/>
                </a:solidFill>
              </a:rPr>
              <a:t xml:space="preserve">Our pipeline has 6 stages. The camera captures live video at 30 FPS. </a:t>
            </a:r>
            <a:r>
              <a:rPr lang="en-US" sz="1400" dirty="0" err="1">
                <a:solidFill>
                  <a:srgbClr val="00C9B1"/>
                </a:solidFill>
              </a:rPr>
              <a:t>MediaPipe</a:t>
            </a:r>
            <a:r>
              <a:rPr lang="en-US" sz="1400" dirty="0">
                <a:solidFill>
                  <a:srgbClr val="00C9B1"/>
                </a:solidFill>
              </a:rPr>
              <a:t xml:space="preserve"> extracts 21 hand </a:t>
            </a:r>
            <a:r>
              <a:rPr lang="en-US" sz="1400" dirty="0" err="1">
                <a:solidFill>
                  <a:srgbClr val="00C9B1"/>
                </a:solidFill>
              </a:rPr>
              <a:t>keypoints</a:t>
            </a:r>
            <a:r>
              <a:rPr lang="en-US" sz="1400" dirty="0">
                <a:solidFill>
                  <a:srgbClr val="00C9B1"/>
                </a:solidFill>
              </a:rPr>
              <a:t xml:space="preserve"> in 3D space. We normalize all 21 points relative to the wrist, giving us a 63-dimensional feature vector. This vector is fed into our Random Forest classifier, which returns a letter and a confidence score. If confidence exceeds 75%, a 1.5-second dwell timer starts — only after the sign is held steady does it get accepted. Finally, the confirmed letter or word is spoken aloud via </a:t>
            </a:r>
            <a:r>
              <a:rPr lang="en-US" sz="1400" dirty="0" err="1">
                <a:solidFill>
                  <a:srgbClr val="00C9B1"/>
                </a:solidFill>
              </a:rPr>
              <a:t>eSpeak</a:t>
            </a:r>
            <a:r>
              <a:rPr lang="en-US" sz="1400" dirty="0">
                <a:solidFill>
                  <a:srgbClr val="00C9B1"/>
                </a:solidFill>
              </a:rPr>
              <a:t xml:space="preserve"> TTS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08313" y="45537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Sign Data Collection — All 26 Letters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0" y="1371600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532120" y="1389888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995160" y="1389888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(x, y, z) per landmark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1773936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532120" y="1792224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95160" y="1792224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hand keypoints × 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0" y="2176272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3212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95160" y="219456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coordinates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0" y="2578608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532120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2596896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ASL alphabet letters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2980944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532120" y="2999232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95160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0" y="3383280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532120" y="3401568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9516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+ MediaPipe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0" y="3785616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53212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95160" y="3803904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Keyboard-triggered frames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0" y="4187952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53212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9516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(dataset1.csv)</a:t>
            </a:r>
            <a:endParaRPr lang="en-US" sz="1000" dirty="0"/>
          </a:p>
        </p:txBody>
      </p:sp>
      <p:pic>
        <p:nvPicPr>
          <p:cNvPr id="32" name="Image 0" descr="/home/claude/gesture_drawi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595" y="1005840"/>
            <a:ext cx="5272637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Model: Random Forest Classifier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0" y="1371600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32120" y="1389888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49440" y="1389888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1773936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532120" y="1792224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949440" y="1792224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2176272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532120" y="2194560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49440" y="2194560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2578608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32120" y="2596896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949440" y="2596896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(all CPU cores)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2980944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32120" y="2999232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49440" y="2999232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float features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0" y="3383280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532120" y="3401568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49440" y="3401568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class + proba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0" y="3785616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532120" y="3803904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0" y="3803904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~95%+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0" y="4187952"/>
            <a:ext cx="3383280" cy="384048"/>
          </a:xfrm>
          <a:prstGeom prst="rect">
            <a:avLst/>
          </a:prstGeom>
          <a:solidFill>
            <a:srgbClr val="162232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32120" y="4206240"/>
            <a:ext cx="14173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file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49440" y="4206240"/>
            <a:ext cx="18745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sign_lang_model.pkl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solidFill>
            <a:srgbClr val="0F1F30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Pipeline: Load CSV → Feature/Label split → 80/20 train-test split → Fit RandomForest → Evaluate accuracy → Export .pkl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1168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Extraction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keypoints (x,y,z)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Wrist-relative normalization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63-dim feature vector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60120"/>
            <a:ext cx="201168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41448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389888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32888" y="1444752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threshold required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low-confidence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silently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54296" y="960120"/>
            <a:ext cx="2011680" cy="1828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54296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Timer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54296" y="1389888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45736" y="1444752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sign for 1.5s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progress bar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accidental input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67144" y="960120"/>
            <a:ext cx="2011680" cy="1828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67144" y="987552"/>
            <a:ext cx="20116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Output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389888"/>
            <a:ext cx="20116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58584" y="1444752"/>
            <a:ext cx="1828800" cy="12344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 speech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WPM English voice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non-blocking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807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Controls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120027"/>
              </p:ext>
            </p:extLst>
          </p:nvPr>
        </p:nvGraphicFramePr>
        <p:xfrm>
          <a:off x="274320" y="3127248"/>
          <a:ext cx="4754882" cy="1889760"/>
        </p:xfrm>
        <a:graphic>
          <a:graphicData uri="http://schemas.openxmlformats.org/drawingml/2006/table">
            <a:tbl>
              <a:tblPr/>
              <a:tblGrid>
                <a:gridCol w="23774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current detected letter to word buffer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Speak current word via TTS + add to sentence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last character from buffer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all — word and sentence buffer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 the 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1698734831"/>
              </p:ext>
            </p:extLst>
          </p:nvPr>
        </p:nvGraphicFramePr>
        <p:xfrm>
          <a:off x="5029200" y="2816352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&amp; Deployment</a:t>
            </a:r>
            <a:endParaRPr lang="en-US" sz="2600" dirty="0"/>
          </a:p>
        </p:txBody>
      </p:sp>
      <p:pic>
        <p:nvPicPr>
          <p:cNvPr id="4" name="Image 0" descr="/home/claude/image_training.png"/>
          <p:cNvPicPr>
            <a:picLocks noChangeAspect="1"/>
          </p:cNvPicPr>
          <p:nvPr/>
        </p:nvPicPr>
        <p:blipFill>
          <a:blip r:embed="rId3"/>
          <a:srcRect l="14550" r="30781" b="36673"/>
          <a:stretch>
            <a:fillRect/>
          </a:stretch>
        </p:blipFill>
        <p:spPr>
          <a:xfrm>
            <a:off x="711537" y="925181"/>
            <a:ext cx="3494704" cy="17905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715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Collection on Raspberry Pi Setup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3776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1371600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92040" y="1389888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Model B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773936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92040" y="1792224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1792224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USB/Pi Camera Module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176272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92040" y="2194560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2194560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 @ 30 FPS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2578608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892040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355080" y="2596896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MJPG (V4L2 backend)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980944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92040" y="2999232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2999232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HDMI / X11 forwarding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3383280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892040" y="3401568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55080" y="3401568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eSpeak voice engine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785616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92040" y="3803904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355080" y="3803904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OS (Linux)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4187952"/>
            <a:ext cx="402336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489204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35508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 + OpenCV + MediaPipe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3371" y="2999232"/>
            <a:ext cx="4269220" cy="1777128"/>
          </a:xfrm>
          <a:prstGeom prst="rect">
            <a:avLst/>
          </a:prstGeom>
          <a:solidFill>
            <a:srgbClr val="0F1F30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52A8F2D-6916-64BB-E5CC-26477711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16" y="3076376"/>
            <a:ext cx="1956593" cy="162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D5A2B63-776B-A94B-D07B-8DDF0F11A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354" y="3076376"/>
            <a:ext cx="2037366" cy="162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GUI &amp; User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5029200" cy="3474720"/>
          </a:xfrm>
          <a:prstGeom prst="rect">
            <a:avLst/>
          </a:prstGeom>
          <a:solidFill>
            <a:srgbClr val="141E28"/>
          </a:solidFill>
          <a:ln w="254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[GUI Screenshot Placeholder]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SignBridge MTech live camera window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hand skeleton, letter overlay,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 and word buffer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4206240"/>
            <a:ext cx="5029200" cy="182880"/>
          </a:xfrm>
          <a:prstGeom prst="rect">
            <a:avLst/>
          </a:prstGeom>
          <a:solidFill>
            <a:srgbClr val="00FF64"/>
          </a:solidFill>
          <a:ln w="12700">
            <a:solidFill>
              <a:srgbClr val="00FF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422452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  |  SignBridge MTech  |  Cam FPS: 28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Elements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371600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2356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Letter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3720" y="1389888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overlay — 3.5× font, green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773936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2356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1792224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— green ≥75%, blue &lt;75%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2176272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23560" y="2194560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194560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 progress line near bottom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578608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2596896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Buffer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03720" y="2596896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word being spelled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980944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23560" y="2999232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0372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sentence (last 45 chars)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3383280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2356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Counter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3401568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frame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77840" y="3785616"/>
            <a:ext cx="3383280" cy="384048"/>
          </a:xfrm>
          <a:prstGeom prst="rect">
            <a:avLst/>
          </a:prstGeom>
          <a:solidFill>
            <a:srgbClr val="E2EEF5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23560" y="3803904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Skeleton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3803904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landmark overlay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77840" y="4187952"/>
            <a:ext cx="3383280" cy="384048"/>
          </a:xfrm>
          <a:prstGeom prst="rect">
            <a:avLst/>
          </a:prstGeom>
          <a:solidFill>
            <a:srgbClr val="F0F7FA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2356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shortcuts always visible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C8CCC0-3D70-1B8F-F97C-283B43F1F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914401"/>
            <a:ext cx="5029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6692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60120"/>
            <a:ext cx="1417320" cy="1280160"/>
          </a:xfrm>
          <a:prstGeom prst="rect">
            <a:avLst/>
          </a:prstGeom>
          <a:solidFill>
            <a:srgbClr val="0F1F30"/>
          </a:solidFill>
          <a:ln w="254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35040" y="1097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35040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543800" y="960120"/>
            <a:ext cx="1417320" cy="1280160"/>
          </a:xfrm>
          <a:prstGeom prst="rect">
            <a:avLst/>
          </a:prstGeom>
          <a:solidFill>
            <a:srgbClr val="0F1F30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43800" y="10972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543800" y="164592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377440"/>
            <a:ext cx="1417320" cy="1280160"/>
          </a:xfrm>
          <a:prstGeom prst="rect">
            <a:avLst/>
          </a:prstGeom>
          <a:solidFill>
            <a:srgbClr val="0F1F30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35040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03504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Confirmation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43800" y="2377440"/>
            <a:ext cx="1417320" cy="1280160"/>
          </a:xfrm>
          <a:prstGeom prst="rect">
            <a:avLst/>
          </a:prstGeom>
          <a:solidFill>
            <a:srgbClr val="0F1F30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543800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543800" y="3063240"/>
            <a:ext cx="14173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Latency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(Fully Offline)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0F1F3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confusion between visually similar signs (M/N, U/V). Static signs (A, I, L, Y) achieve 95-98% accuracy. Dynamic signs (J, Z) excluded — require motion capture. Model generalizes well across lighting and skin tones due to normalized coordinate 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007B6E"/>
          </a:solidFill>
          <a:ln w="12700">
            <a:solidFill>
              <a:srgbClr val="007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1828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3474720"/>
          </a:xfrm>
          <a:prstGeom prst="rect">
            <a:avLst/>
          </a:prstGeom>
          <a:solidFill>
            <a:srgbClr val="0F1F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Achieved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37160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ASL recognition at 30 FPS on edge hardware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model accuracy on 26 static letter classes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operation — no internet required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integration for hearing-non-impaired users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Dwell-based auto-type prevents false positives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0F1F30"/>
          </a:solidFill>
          <a:ln w="190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Work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dynamic signs with motion tracking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full words &amp; common phrases recognition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deployment (Android/iOS via TFLite)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Two-hand sign support for more complex signs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Sign Language (ISL) model training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4526280"/>
            <a:ext cx="8686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45445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"Bridging the communication gap between the hearing and hearing-impaired communities — one gesture at a time."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902</Words>
  <Application>Microsoft Office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Edge-AI Real Time Sign Language Recognition System</dc:title>
  <dc:subject>PptxGenJS Presentation</dc:subject>
  <dc:creator>PptxGenJS</dc:creator>
  <cp:lastModifiedBy>Shruti Jain</cp:lastModifiedBy>
  <cp:revision>7</cp:revision>
  <dcterms:created xsi:type="dcterms:W3CDTF">2026-04-30T17:36:07Z</dcterms:created>
  <dcterms:modified xsi:type="dcterms:W3CDTF">2026-04-30T18:44:22Z</dcterms:modified>
</cp:coreProperties>
</file>